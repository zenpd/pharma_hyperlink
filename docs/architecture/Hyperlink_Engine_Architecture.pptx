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1945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</a:t>
            </a:r>
            <a:pPr algn="l" indent="0" marL="0">
              <a:buNone/>
            </a:pPr>
            <a:r>
              <a:rPr lang="en-US" sz="2200" b="1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 Automation</a:t>
            </a:r>
            <a:pPr algn="l" indent="0" marL="0">
              <a:buNone/>
            </a:pPr>
            <a:r>
              <a:rPr lang="en-US" sz="22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Validation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5836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Reference Architecture  ·  Regulatory Submission Publishing (eCTD Modules 1–5)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12680" y="2377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44A"/>
          </a:solidFill>
          <a:ln/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70432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 Engine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74320" y="20848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on-prem AI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92608" y="2542032"/>
            <a:ext cx="25694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on-prem AI engine that detects cross-references across 500+ regulatory documents, injects validated hyperlinks into Word, PDF &amp; eCTD renditions, and scores submission readiness — with zero external API calls.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41148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E3ECF9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187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20624" y="46451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hyperlinking effort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512064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E3ECF9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51937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20624" y="56509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broken-link rejection rate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17520" y="1024128"/>
            <a:ext cx="2404872" cy="603504"/>
          </a:xfrm>
          <a:prstGeom prst="roundRect">
            <a:avLst>
              <a:gd name="adj" fmla="val 9091"/>
            </a:avLst>
          </a:prstGeom>
          <a:solidFill>
            <a:srgbClr val="16244A"/>
          </a:solidFill>
          <a:ln/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119786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0440" y="109728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20440" y="13533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 (Dosscriber) · PDF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532120" y="1024128"/>
            <a:ext cx="2404872" cy="603504"/>
          </a:xfrm>
          <a:prstGeom prst="roundRect">
            <a:avLst>
              <a:gd name="adj" fmla="val 9091"/>
            </a:avLst>
          </a:prstGeom>
          <a:solidFill>
            <a:srgbClr val="16244A"/>
          </a:solidFill>
          <a:ln/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119786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109728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eCTD Backbone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35040" y="13533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index.xml · regional XML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8046720" y="1024128"/>
            <a:ext cx="2404872" cy="603504"/>
          </a:xfrm>
          <a:prstGeom prst="roundRect">
            <a:avLst>
              <a:gd name="adj" fmla="val 9091"/>
            </a:avLst>
          </a:prstGeom>
          <a:solidFill>
            <a:srgbClr val="16244A"/>
          </a:solidFill>
          <a:ln/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19786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49640" y="109728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549640" y="13533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Dossplorer · CAPTIS APIs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017520" y="1719072"/>
            <a:ext cx="7434072" cy="1078992"/>
          </a:xfrm>
          <a:prstGeom prst="roundRect">
            <a:avLst>
              <a:gd name="adj" fmla="val 5932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017520" y="1719072"/>
            <a:ext cx="1170432" cy="1078992"/>
          </a:xfrm>
          <a:prstGeom prst="roundRect">
            <a:avLst>
              <a:gd name="adj" fmla="val 5085"/>
            </a:avLst>
          </a:prstGeom>
          <a:solidFill>
            <a:srgbClr val="2A4178"/>
          </a:solidFill>
          <a:ln/>
        </p:spPr>
      </p:sp>
      <p:sp>
        <p:nvSpPr>
          <p:cNvPr id="30" name="Text 24"/>
          <p:cNvSpPr/>
          <p:nvPr/>
        </p:nvSpPr>
        <p:spPr>
          <a:xfrm>
            <a:off x="3017520" y="1719072"/>
            <a:ext cx="1170432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Experience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97680" y="1810512"/>
            <a:ext cx="146989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89120" y="192024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1984248"/>
            <a:ext cx="164592" cy="1645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736592" y="190195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389120" y="2249424"/>
            <a:ext cx="1287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· checkpoints</a:t>
            </a:r>
            <a:endParaRPr lang="en-US" sz="780" dirty="0"/>
          </a:p>
        </p:txBody>
      </p:sp>
      <p:sp>
        <p:nvSpPr>
          <p:cNvPr id="36" name="Shape 29"/>
          <p:cNvSpPr/>
          <p:nvPr/>
        </p:nvSpPr>
        <p:spPr>
          <a:xfrm>
            <a:off x="5859018" y="1810512"/>
            <a:ext cx="146989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5950458" y="192024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4466" y="1984248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97930" y="190195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950458" y="2249424"/>
            <a:ext cx="1287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Balanced · Max</a:t>
            </a:r>
            <a:endParaRPr lang="en-US" sz="780" dirty="0"/>
          </a:p>
        </p:txBody>
      </p:sp>
      <p:sp>
        <p:nvSpPr>
          <p:cNvPr id="41" name="Shape 33"/>
          <p:cNvSpPr/>
          <p:nvPr/>
        </p:nvSpPr>
        <p:spPr>
          <a:xfrm>
            <a:off x="7420356" y="1810512"/>
            <a:ext cx="146989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511796" y="192024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804" y="1984248"/>
            <a:ext cx="164592" cy="16459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859268" y="190195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7511796" y="2249424"/>
            <a:ext cx="1287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· cache</a:t>
            </a:r>
            <a:endParaRPr lang="en-US" sz="780" dirty="0"/>
          </a:p>
        </p:txBody>
      </p:sp>
      <p:sp>
        <p:nvSpPr>
          <p:cNvPr id="46" name="Shape 37"/>
          <p:cNvSpPr/>
          <p:nvPr/>
        </p:nvSpPr>
        <p:spPr>
          <a:xfrm>
            <a:off x="8981694" y="1810512"/>
            <a:ext cx="146989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073134" y="192024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142" y="1984248"/>
            <a:ext cx="164592" cy="16459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420606" y="190195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9073134" y="2249424"/>
            <a:ext cx="1287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· edit</a:t>
            </a:r>
            <a:endParaRPr lang="en-US" sz="780" dirty="0"/>
          </a:p>
        </p:txBody>
      </p:sp>
      <p:sp>
        <p:nvSpPr>
          <p:cNvPr id="51" name="Shape 41"/>
          <p:cNvSpPr/>
          <p:nvPr/>
        </p:nvSpPr>
        <p:spPr>
          <a:xfrm>
            <a:off x="3017520" y="2889504"/>
            <a:ext cx="7434072" cy="1298448"/>
          </a:xfrm>
          <a:prstGeom prst="roundRect">
            <a:avLst>
              <a:gd name="adj" fmla="val 4930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3017520" y="2889504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2A4178"/>
          </a:solidFill>
          <a:ln/>
        </p:spPr>
      </p:sp>
      <p:sp>
        <p:nvSpPr>
          <p:cNvPr id="53" name="Text 43"/>
          <p:cNvSpPr/>
          <p:nvPr/>
        </p:nvSpPr>
        <p:spPr>
          <a:xfrm>
            <a:off x="3017520" y="2889504"/>
            <a:ext cx="117043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Injection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4297680" y="2980944"/>
            <a:ext cx="146989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4389120" y="3090672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3128" y="3154680"/>
            <a:ext cx="164592" cy="16459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4736592" y="3072384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4389120" y="3419856"/>
            <a:ext cx="128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IDs · §refs · tables</a:t>
            </a:r>
            <a:endParaRPr lang="en-US" sz="780" dirty="0"/>
          </a:p>
        </p:txBody>
      </p:sp>
      <p:sp>
        <p:nvSpPr>
          <p:cNvPr id="59" name="Shape 48"/>
          <p:cNvSpPr/>
          <p:nvPr/>
        </p:nvSpPr>
        <p:spPr>
          <a:xfrm>
            <a:off x="5859018" y="2980944"/>
            <a:ext cx="146989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5950458" y="3090672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4466" y="3154680"/>
            <a:ext cx="164592" cy="164592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297930" y="3072384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</a:t>
            </a:r>
            <a:endParaRPr lang="en-US" sz="1000" dirty="0"/>
          </a:p>
        </p:txBody>
      </p:sp>
      <p:sp>
        <p:nvSpPr>
          <p:cNvPr id="63" name="Text 51"/>
          <p:cNvSpPr/>
          <p:nvPr/>
        </p:nvSpPr>
        <p:spPr>
          <a:xfrm>
            <a:off x="5950458" y="3419856"/>
            <a:ext cx="128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entity model</a:t>
            </a:r>
            <a:endParaRPr lang="en-US" sz="780" dirty="0"/>
          </a:p>
        </p:txBody>
      </p:sp>
      <p:sp>
        <p:nvSpPr>
          <p:cNvPr id="64" name="Shape 52"/>
          <p:cNvSpPr/>
          <p:nvPr/>
        </p:nvSpPr>
        <p:spPr>
          <a:xfrm>
            <a:off x="7420356" y="2980944"/>
            <a:ext cx="146989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65" name="Shape 53"/>
          <p:cNvSpPr/>
          <p:nvPr/>
        </p:nvSpPr>
        <p:spPr>
          <a:xfrm>
            <a:off x="7511796" y="3090672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5804" y="3154680"/>
            <a:ext cx="164592" cy="164592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7859268" y="3072384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000" dirty="0"/>
          </a:p>
        </p:txBody>
      </p:sp>
      <p:sp>
        <p:nvSpPr>
          <p:cNvPr id="68" name="Text 55"/>
          <p:cNvSpPr/>
          <p:nvPr/>
        </p:nvSpPr>
        <p:spPr>
          <a:xfrm>
            <a:off x="7511796" y="3419856"/>
            <a:ext cx="128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disambiguation</a:t>
            </a:r>
            <a:endParaRPr lang="en-US" sz="780" dirty="0"/>
          </a:p>
        </p:txBody>
      </p:sp>
      <p:sp>
        <p:nvSpPr>
          <p:cNvPr id="69" name="Shape 56"/>
          <p:cNvSpPr/>
          <p:nvPr/>
        </p:nvSpPr>
        <p:spPr>
          <a:xfrm>
            <a:off x="8981694" y="2980944"/>
            <a:ext cx="146989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70" name="Shape 57"/>
          <p:cNvSpPr/>
          <p:nvPr/>
        </p:nvSpPr>
        <p:spPr>
          <a:xfrm>
            <a:off x="9073134" y="3090672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7142" y="3154680"/>
            <a:ext cx="164592" cy="164592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9420606" y="3072384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73" name="Text 59"/>
          <p:cNvSpPr/>
          <p:nvPr/>
        </p:nvSpPr>
        <p:spPr>
          <a:xfrm>
            <a:off x="9073134" y="3419856"/>
            <a:ext cx="12870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PDF · eCTD xref</a:t>
            </a:r>
            <a:endParaRPr lang="en-US" sz="780" dirty="0"/>
          </a:p>
        </p:txBody>
      </p:sp>
      <p:sp>
        <p:nvSpPr>
          <p:cNvPr id="74" name="Shape 60"/>
          <p:cNvSpPr/>
          <p:nvPr/>
        </p:nvSpPr>
        <p:spPr>
          <a:xfrm>
            <a:off x="3017520" y="4279392"/>
            <a:ext cx="7434072" cy="1188720"/>
          </a:xfrm>
          <a:prstGeom prst="roundRect">
            <a:avLst>
              <a:gd name="adj" fmla="val 5385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3017520" y="4279392"/>
            <a:ext cx="1170432" cy="1188720"/>
          </a:xfrm>
          <a:prstGeom prst="roundRect">
            <a:avLst>
              <a:gd name="adj" fmla="val 4688"/>
            </a:avLst>
          </a:prstGeom>
          <a:solidFill>
            <a:srgbClr val="2A4178"/>
          </a:solidFill>
          <a:ln/>
        </p:spPr>
      </p:sp>
      <p:sp>
        <p:nvSpPr>
          <p:cNvPr id="76" name="Text 62"/>
          <p:cNvSpPr/>
          <p:nvPr/>
        </p:nvSpPr>
        <p:spPr>
          <a:xfrm>
            <a:off x="3017520" y="4279392"/>
            <a:ext cx="117043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Parsing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Knowledge</a:t>
            </a:r>
            <a:endParaRPr lang="en-US" sz="1050" dirty="0"/>
          </a:p>
        </p:txBody>
      </p:sp>
      <p:sp>
        <p:nvSpPr>
          <p:cNvPr id="77" name="Shape 63"/>
          <p:cNvSpPr/>
          <p:nvPr/>
        </p:nvSpPr>
        <p:spPr>
          <a:xfrm>
            <a:off x="4297680" y="4370832"/>
            <a:ext cx="146989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78" name="Shape 64"/>
          <p:cNvSpPr/>
          <p:nvPr/>
        </p:nvSpPr>
        <p:spPr>
          <a:xfrm>
            <a:off x="4389120" y="448056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3128" y="4544568"/>
            <a:ext cx="164592" cy="164592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4736592" y="446227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1000" dirty="0"/>
          </a:p>
        </p:txBody>
      </p:sp>
      <p:sp>
        <p:nvSpPr>
          <p:cNvPr id="81" name="Text 66"/>
          <p:cNvSpPr/>
          <p:nvPr/>
        </p:nvSpPr>
        <p:spPr>
          <a:xfrm>
            <a:off x="4389120" y="4809744"/>
            <a:ext cx="1287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pdf · eCTD</a:t>
            </a:r>
            <a:endParaRPr lang="en-US" sz="780" dirty="0"/>
          </a:p>
        </p:txBody>
      </p:sp>
      <p:sp>
        <p:nvSpPr>
          <p:cNvPr id="82" name="Shape 67"/>
          <p:cNvSpPr/>
          <p:nvPr/>
        </p:nvSpPr>
        <p:spPr>
          <a:xfrm>
            <a:off x="5859018" y="4370832"/>
            <a:ext cx="146989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83" name="Shape 68"/>
          <p:cNvSpPr/>
          <p:nvPr/>
        </p:nvSpPr>
        <p:spPr>
          <a:xfrm>
            <a:off x="5950458" y="448056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8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4466" y="4544568"/>
            <a:ext cx="164592" cy="164592"/>
          </a:xfrm>
          <a:prstGeom prst="rect">
            <a:avLst/>
          </a:prstGeom>
        </p:spPr>
      </p:pic>
      <p:sp>
        <p:nvSpPr>
          <p:cNvPr id="85" name="Text 69"/>
          <p:cNvSpPr/>
          <p:nvPr/>
        </p:nvSpPr>
        <p:spPr>
          <a:xfrm>
            <a:off x="6297930" y="446227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</a:t>
            </a:r>
            <a:endParaRPr lang="en-US" sz="1000" dirty="0"/>
          </a:p>
        </p:txBody>
      </p:sp>
      <p:sp>
        <p:nvSpPr>
          <p:cNvPr id="86" name="Text 70"/>
          <p:cNvSpPr/>
          <p:nvPr/>
        </p:nvSpPr>
        <p:spPr>
          <a:xfrm>
            <a:off x="5950458" y="4809744"/>
            <a:ext cx="1287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PyMuPDF · lxml</a:t>
            </a:r>
            <a:endParaRPr lang="en-US" sz="780" dirty="0"/>
          </a:p>
        </p:txBody>
      </p:sp>
      <p:sp>
        <p:nvSpPr>
          <p:cNvPr id="87" name="Shape 71"/>
          <p:cNvSpPr/>
          <p:nvPr/>
        </p:nvSpPr>
        <p:spPr>
          <a:xfrm>
            <a:off x="7420356" y="4370832"/>
            <a:ext cx="146989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88" name="Shape 72"/>
          <p:cNvSpPr/>
          <p:nvPr/>
        </p:nvSpPr>
        <p:spPr>
          <a:xfrm>
            <a:off x="7511796" y="448056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8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5804" y="4544568"/>
            <a:ext cx="164592" cy="164592"/>
          </a:xfrm>
          <a:prstGeom prst="rect">
            <a:avLst/>
          </a:prstGeom>
        </p:spPr>
      </p:pic>
      <p:sp>
        <p:nvSpPr>
          <p:cNvPr id="90" name="Text 73"/>
          <p:cNvSpPr/>
          <p:nvPr/>
        </p:nvSpPr>
        <p:spPr>
          <a:xfrm>
            <a:off x="7859268" y="446227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</a:t>
            </a:r>
            <a:endParaRPr lang="en-US" sz="1000" dirty="0"/>
          </a:p>
        </p:txBody>
      </p:sp>
      <p:sp>
        <p:nvSpPr>
          <p:cNvPr id="91" name="Text 74"/>
          <p:cNvSpPr/>
          <p:nvPr/>
        </p:nvSpPr>
        <p:spPr>
          <a:xfrm>
            <a:off x="7511796" y="4809744"/>
            <a:ext cx="1287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· Doc · Ref nodes</a:t>
            </a:r>
            <a:endParaRPr lang="en-US" sz="780" dirty="0"/>
          </a:p>
        </p:txBody>
      </p:sp>
      <p:sp>
        <p:nvSpPr>
          <p:cNvPr id="92" name="Shape 75"/>
          <p:cNvSpPr/>
          <p:nvPr/>
        </p:nvSpPr>
        <p:spPr>
          <a:xfrm>
            <a:off x="8981694" y="4370832"/>
            <a:ext cx="146989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sp>
        <p:nvSpPr>
          <p:cNvPr id="93" name="Shape 76"/>
          <p:cNvSpPr/>
          <p:nvPr/>
        </p:nvSpPr>
        <p:spPr>
          <a:xfrm>
            <a:off x="9073134" y="4480560"/>
            <a:ext cx="292608" cy="292608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9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37142" y="4544568"/>
            <a:ext cx="164592" cy="164592"/>
          </a:xfrm>
          <a:prstGeom prst="rect">
            <a:avLst/>
          </a:prstGeom>
        </p:spPr>
      </p:pic>
      <p:sp>
        <p:nvSpPr>
          <p:cNvPr id="95" name="Text 77"/>
          <p:cNvSpPr/>
          <p:nvPr/>
        </p:nvSpPr>
        <p:spPr>
          <a:xfrm>
            <a:off x="9420606" y="4462272"/>
            <a:ext cx="966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00" dirty="0"/>
          </a:p>
        </p:txBody>
      </p:sp>
      <p:sp>
        <p:nvSpPr>
          <p:cNvPr id="96" name="Text 78"/>
          <p:cNvSpPr/>
          <p:nvPr/>
        </p:nvSpPr>
        <p:spPr>
          <a:xfrm>
            <a:off x="9073134" y="4809744"/>
            <a:ext cx="1287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 SHA256</a:t>
            </a:r>
            <a:endParaRPr lang="en-US" sz="780" dirty="0"/>
          </a:p>
        </p:txBody>
      </p:sp>
      <p:sp>
        <p:nvSpPr>
          <p:cNvPr id="97" name="Shape 79"/>
          <p:cNvSpPr/>
          <p:nvPr/>
        </p:nvSpPr>
        <p:spPr>
          <a:xfrm>
            <a:off x="3017520" y="5577840"/>
            <a:ext cx="7434072" cy="502920"/>
          </a:xfrm>
          <a:prstGeom prst="roundRect">
            <a:avLst>
              <a:gd name="adj" fmla="val 10909"/>
            </a:avLst>
          </a:prstGeom>
          <a:solidFill>
            <a:srgbClr val="16244A"/>
          </a:solidFill>
          <a:ln/>
          <a:effectLst>
            <a:outerShdw sx="100000" sy="100000" kx="0" ky="0" algn="bl" rotWithShape="0" blurRad="50800" dist="19050" dir="8100000">
              <a:srgbClr val="1B2A52">
                <a:alpha val="18000"/>
              </a:srgbClr>
            </a:outerShdw>
          </a:effectLst>
        </p:spPr>
      </p:sp>
      <p:pic>
        <p:nvPicPr>
          <p:cNvPr id="9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0400" y="5733288"/>
            <a:ext cx="201168" cy="201168"/>
          </a:xfrm>
          <a:prstGeom prst="rect">
            <a:avLst/>
          </a:prstGeom>
        </p:spPr>
      </p:pic>
      <p:sp>
        <p:nvSpPr>
          <p:cNvPr id="99" name="Text 80"/>
          <p:cNvSpPr/>
          <p:nvPr/>
        </p:nvSpPr>
        <p:spPr>
          <a:xfrm>
            <a:off x="3474720" y="5577840"/>
            <a:ext cx="6885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 </a:t>
            </a:r>
            <a:pPr algn="ctr" indent="0" marL="0">
              <a:buNone/>
            </a:pPr>
            <a:r>
              <a:rPr lang="en-US" sz="920" dirty="0">
                <a:solidFill>
                  <a:srgbClr val="C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POC → On-Prem VPC   ·   Docker Compose   ·   Ollama   ·   Neo4j 5   ·   Redis 7   ·   No external APIs</a:t>
            </a:r>
            <a:endParaRPr lang="en-US" sz="920" dirty="0"/>
          </a:p>
        </p:txBody>
      </p:sp>
      <p:sp>
        <p:nvSpPr>
          <p:cNvPr id="100" name="Shape 81"/>
          <p:cNvSpPr/>
          <p:nvPr/>
        </p:nvSpPr>
        <p:spPr>
          <a:xfrm>
            <a:off x="10588752" y="102412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2A4178"/>
          </a:solidFill>
          <a:ln/>
        </p:spPr>
      </p:sp>
      <p:sp>
        <p:nvSpPr>
          <p:cNvPr id="101" name="Text 82"/>
          <p:cNvSpPr/>
          <p:nvPr/>
        </p:nvSpPr>
        <p:spPr>
          <a:xfrm>
            <a:off x="10588752" y="10241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900" dirty="0"/>
          </a:p>
        </p:txBody>
      </p:sp>
      <p:sp>
        <p:nvSpPr>
          <p:cNvPr id="102" name="Shape 83"/>
          <p:cNvSpPr/>
          <p:nvPr/>
        </p:nvSpPr>
        <p:spPr>
          <a:xfrm>
            <a:off x="10588752" y="1517904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0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98480" y="1715806"/>
            <a:ext cx="201168" cy="201168"/>
          </a:xfrm>
          <a:prstGeom prst="rect">
            <a:avLst/>
          </a:prstGeom>
        </p:spPr>
      </p:pic>
      <p:sp>
        <p:nvSpPr>
          <p:cNvPr id="104" name="Text 84"/>
          <p:cNvSpPr/>
          <p:nvPr/>
        </p:nvSpPr>
        <p:spPr>
          <a:xfrm>
            <a:off x="10972800" y="1517904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&amp; Target Validation</a:t>
            </a:r>
            <a:endParaRPr lang="en-US" sz="800" dirty="0"/>
          </a:p>
        </p:txBody>
      </p:sp>
      <p:sp>
        <p:nvSpPr>
          <p:cNvPr id="105" name="Shape 85"/>
          <p:cNvSpPr/>
          <p:nvPr/>
        </p:nvSpPr>
        <p:spPr>
          <a:xfrm>
            <a:off x="10588752" y="2178885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0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98480" y="2376787"/>
            <a:ext cx="201168" cy="201168"/>
          </a:xfrm>
          <a:prstGeom prst="rect">
            <a:avLst/>
          </a:prstGeom>
        </p:spPr>
      </p:pic>
      <p:sp>
        <p:nvSpPr>
          <p:cNvPr id="107" name="Text 86"/>
          <p:cNvSpPr/>
          <p:nvPr/>
        </p:nvSpPr>
        <p:spPr>
          <a:xfrm>
            <a:off x="10972800" y="2178885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800" dirty="0"/>
          </a:p>
        </p:txBody>
      </p:sp>
      <p:sp>
        <p:nvSpPr>
          <p:cNvPr id="108" name="Shape 87"/>
          <p:cNvSpPr/>
          <p:nvPr/>
        </p:nvSpPr>
        <p:spPr>
          <a:xfrm>
            <a:off x="10588752" y="2839865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0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98480" y="3037767"/>
            <a:ext cx="201168" cy="201168"/>
          </a:xfrm>
          <a:prstGeom prst="rect">
            <a:avLst/>
          </a:prstGeom>
        </p:spPr>
      </p:pic>
      <p:sp>
        <p:nvSpPr>
          <p:cNvPr id="110" name="Text 88"/>
          <p:cNvSpPr/>
          <p:nvPr/>
        </p:nvSpPr>
        <p:spPr>
          <a:xfrm>
            <a:off x="10972800" y="2839865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Compatibility</a:t>
            </a:r>
            <a:endParaRPr lang="en-US" sz="800" dirty="0"/>
          </a:p>
        </p:txBody>
      </p:sp>
      <p:sp>
        <p:nvSpPr>
          <p:cNvPr id="111" name="Shape 89"/>
          <p:cNvSpPr/>
          <p:nvPr/>
        </p:nvSpPr>
        <p:spPr>
          <a:xfrm>
            <a:off x="10588752" y="3500846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1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98480" y="3698748"/>
            <a:ext cx="201168" cy="201168"/>
          </a:xfrm>
          <a:prstGeom prst="rect">
            <a:avLst/>
          </a:prstGeom>
        </p:spPr>
      </p:pic>
      <p:sp>
        <p:nvSpPr>
          <p:cNvPr id="113" name="Text 90"/>
          <p:cNvSpPr/>
          <p:nvPr/>
        </p:nvSpPr>
        <p:spPr>
          <a:xfrm>
            <a:off x="10972800" y="3500846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Readiness Score</a:t>
            </a:r>
            <a:endParaRPr lang="en-US" sz="800" dirty="0"/>
          </a:p>
        </p:txBody>
      </p:sp>
      <p:sp>
        <p:nvSpPr>
          <p:cNvPr id="114" name="Shape 91"/>
          <p:cNvSpPr/>
          <p:nvPr/>
        </p:nvSpPr>
        <p:spPr>
          <a:xfrm>
            <a:off x="10588752" y="4161826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1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98480" y="4359729"/>
            <a:ext cx="201168" cy="201168"/>
          </a:xfrm>
          <a:prstGeom prst="rect">
            <a:avLst/>
          </a:prstGeom>
        </p:spPr>
      </p:pic>
      <p:sp>
        <p:nvSpPr>
          <p:cNvPr id="116" name="Text 92"/>
          <p:cNvSpPr/>
          <p:nvPr/>
        </p:nvSpPr>
        <p:spPr>
          <a:xfrm>
            <a:off x="10972800" y="4161826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Preservation</a:t>
            </a:r>
            <a:endParaRPr lang="en-US" sz="800" dirty="0"/>
          </a:p>
        </p:txBody>
      </p:sp>
      <p:sp>
        <p:nvSpPr>
          <p:cNvPr id="117" name="Shape 93"/>
          <p:cNvSpPr/>
          <p:nvPr/>
        </p:nvSpPr>
        <p:spPr>
          <a:xfrm>
            <a:off x="10588752" y="4822807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1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98480" y="5020709"/>
            <a:ext cx="201168" cy="201168"/>
          </a:xfrm>
          <a:prstGeom prst="rect">
            <a:avLst/>
          </a:prstGeom>
        </p:spPr>
      </p:pic>
      <p:sp>
        <p:nvSpPr>
          <p:cNvPr id="119" name="Text 94"/>
          <p:cNvSpPr/>
          <p:nvPr/>
        </p:nvSpPr>
        <p:spPr>
          <a:xfrm>
            <a:off x="10972800" y="4822807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Audit Trail</a:t>
            </a:r>
            <a:endParaRPr lang="en-US" sz="800" dirty="0"/>
          </a:p>
        </p:txBody>
      </p:sp>
      <p:sp>
        <p:nvSpPr>
          <p:cNvPr id="120" name="Shape 95"/>
          <p:cNvSpPr/>
          <p:nvPr/>
        </p:nvSpPr>
        <p:spPr>
          <a:xfrm>
            <a:off x="10588752" y="5483787"/>
            <a:ext cx="1371600" cy="596973"/>
          </a:xfrm>
          <a:prstGeom prst="roundRect">
            <a:avLst>
              <a:gd name="adj" fmla="val 7659"/>
            </a:avLst>
          </a:prstGeom>
          <a:solidFill>
            <a:srgbClr val="16244A"/>
          </a:solidFill>
          <a:ln/>
        </p:spPr>
      </p:sp>
      <p:pic>
        <p:nvPicPr>
          <p:cNvPr id="12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98480" y="5681690"/>
            <a:ext cx="201168" cy="201168"/>
          </a:xfrm>
          <a:prstGeom prst="rect">
            <a:avLst/>
          </a:prstGeom>
        </p:spPr>
      </p:pic>
      <p:sp>
        <p:nvSpPr>
          <p:cNvPr id="122" name="Text 96"/>
          <p:cNvSpPr/>
          <p:nvPr/>
        </p:nvSpPr>
        <p:spPr>
          <a:xfrm>
            <a:off x="10972800" y="5483787"/>
            <a:ext cx="896112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GxP</a:t>
            </a:r>
            <a:endParaRPr lang="en-US" sz="800" dirty="0"/>
          </a:p>
        </p:txBody>
      </p:sp>
      <p:sp>
        <p:nvSpPr>
          <p:cNvPr id="123" name="Text 97"/>
          <p:cNvSpPr/>
          <p:nvPr/>
        </p:nvSpPr>
        <p:spPr>
          <a:xfrm>
            <a:off x="274320" y="623620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Zensar Technologies   ·   AI-Powered Hyperlink Automation &amp; Validation Engine   ·   On-Prem AI POC   · 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 Engine — Reference Architecture</dc:title>
  <dc:subject>PptxGenJS Presentation</dc:subject>
  <dc:creator>Zensar</dc:creator>
  <cp:lastModifiedBy>Zensar</cp:lastModifiedBy>
  <cp:revision>1</cp:revision>
  <dcterms:created xsi:type="dcterms:W3CDTF">2026-06-05T05:53:03Z</dcterms:created>
  <dcterms:modified xsi:type="dcterms:W3CDTF">2026-06-05T05:53:03Z</dcterms:modified>
</cp:coreProperties>
</file>