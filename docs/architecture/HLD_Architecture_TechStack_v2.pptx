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slideLayout" Target="../slideLayouts/slideLayout1.xml"/><Relationship Id="rId1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HLD - Architecture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31520"/>
            <a:ext cx="11155680" cy="0"/>
          </a:xfrm>
          <a:prstGeom prst="line">
            <a:avLst/>
          </a:prstGeom>
          <a:noFill/>
          <a:ln w="34925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34925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64190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6/5/2026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39165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2468880" cy="5212080"/>
          </a:xfrm>
          <a:prstGeom prst="roundRect">
            <a:avLst>
              <a:gd name="adj" fmla="val 2593"/>
            </a:avLst>
          </a:prstGeom>
          <a:solidFill>
            <a:srgbClr val="EEF3FB"/>
          </a:solidFill>
          <a:ln w="12700">
            <a:solidFill>
              <a:srgbClr val="CBD8EE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48640" y="914400"/>
            <a:ext cx="2468880" cy="457200"/>
          </a:xfrm>
          <a:prstGeom prst="roundRect">
            <a:avLst>
              <a:gd name="adj" fmla="val 14000"/>
            </a:avLst>
          </a:prstGeom>
          <a:solidFill>
            <a:srgbClr val="16244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91440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 &amp; Experience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48640" y="13716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694944" y="19385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</p:spPr>
      </p:sp>
      <p:pic>
        <p:nvPicPr>
          <p:cNvPr id="1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" y="2016252"/>
            <a:ext cx="173736" cy="173736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1115568" y="1664208"/>
            <a:ext cx="17922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
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machine + checkpoints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694944" y="281635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2668" y="2894076"/>
            <a:ext cx="173736" cy="173736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115568" y="2542032"/>
            <a:ext cx="17922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Celery workers
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fan-out</a:t>
            </a:r>
            <a:endParaRPr lang="en-US" sz="1000" dirty="0"/>
          </a:p>
        </p:txBody>
      </p:sp>
      <p:sp>
        <p:nvSpPr>
          <p:cNvPr id="17" name="Shape 13"/>
          <p:cNvSpPr/>
          <p:nvPr/>
        </p:nvSpPr>
        <p:spPr>
          <a:xfrm>
            <a:off x="694944" y="369417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" y="3771900"/>
            <a:ext cx="173736" cy="173736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115568" y="3419856"/>
            <a:ext cx="17922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
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API + SSE stream</a:t>
            </a:r>
            <a:endParaRPr lang="en-US" sz="1000" dirty="0"/>
          </a:p>
        </p:txBody>
      </p:sp>
      <p:sp>
        <p:nvSpPr>
          <p:cNvPr id="20" name="Shape 15"/>
          <p:cNvSpPr/>
          <p:nvPr/>
        </p:nvSpPr>
        <p:spPr>
          <a:xfrm>
            <a:off x="694944" y="457200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2668" y="4649724"/>
            <a:ext cx="173736" cy="17373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115568" y="4297680"/>
            <a:ext cx="17922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Streamlit
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Compare · inline edit</a:t>
            </a:r>
            <a:endParaRPr lang="en-US" sz="1000" dirty="0"/>
          </a:p>
        </p:txBody>
      </p:sp>
      <p:sp>
        <p:nvSpPr>
          <p:cNvPr id="23" name="Shape 17"/>
          <p:cNvSpPr/>
          <p:nvPr/>
        </p:nvSpPr>
        <p:spPr>
          <a:xfrm>
            <a:off x="694944" y="544982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2668" y="5527548"/>
            <a:ext cx="173736" cy="17373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115568" y="5175504"/>
            <a:ext cx="179222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Snippet preview
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click-to-navigate</a:t>
            </a:r>
            <a:endParaRPr lang="en-US" sz="1000" dirty="0"/>
          </a:p>
        </p:txBody>
      </p:sp>
      <p:sp>
        <p:nvSpPr>
          <p:cNvPr id="26" name="Shape 19"/>
          <p:cNvSpPr/>
          <p:nvPr/>
        </p:nvSpPr>
        <p:spPr>
          <a:xfrm>
            <a:off x="9144000" y="914400"/>
            <a:ext cx="2514600" cy="5212080"/>
          </a:xfrm>
          <a:prstGeom prst="roundRect">
            <a:avLst>
              <a:gd name="adj" fmla="val 2545"/>
            </a:avLst>
          </a:prstGeom>
          <a:solidFill>
            <a:srgbClr val="EEF3FB"/>
          </a:solidFill>
          <a:ln w="12700">
            <a:solidFill>
              <a:srgbClr val="CBD8EE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9144000" y="914400"/>
            <a:ext cx="2514600" cy="457200"/>
          </a:xfrm>
          <a:prstGeom prst="roundRect">
            <a:avLst>
              <a:gd name="adj" fmla="val 14000"/>
            </a:avLst>
          </a:prstGeom>
          <a:solidFill>
            <a:srgbClr val="16244A"/>
          </a:solidFill>
          <a:ln/>
        </p:spPr>
      </p:sp>
      <p:sp>
        <p:nvSpPr>
          <p:cNvPr id="28" name="Text 21"/>
          <p:cNvSpPr/>
          <p:nvPr/>
        </p:nvSpPr>
        <p:spPr>
          <a:xfrm>
            <a:off x="9144000" y="914400"/>
            <a:ext cx="2514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Governance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9144000" y="1371600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i="1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cross-cutting</a:t>
            </a:r>
            <a:endParaRPr lang="en-US" sz="750" dirty="0"/>
          </a:p>
        </p:txBody>
      </p:sp>
      <p:sp>
        <p:nvSpPr>
          <p:cNvPr id="30" name="Shape 23"/>
          <p:cNvSpPr/>
          <p:nvPr/>
        </p:nvSpPr>
        <p:spPr>
          <a:xfrm>
            <a:off x="9290304" y="1938528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68028" y="2016252"/>
            <a:ext cx="173736" cy="173736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710928" y="1664208"/>
            <a:ext cx="18379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5
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Dossier · Doc · Reference</a:t>
            </a:r>
            <a:endParaRPr lang="en-US" sz="1000" dirty="0"/>
          </a:p>
        </p:txBody>
      </p:sp>
      <p:sp>
        <p:nvSpPr>
          <p:cNvPr id="33" name="Shape 25"/>
          <p:cNvSpPr/>
          <p:nvPr/>
        </p:nvSpPr>
        <p:spPr>
          <a:xfrm>
            <a:off x="9290304" y="2816352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</p:spPr>
      </p:sp>
      <p:pic>
        <p:nvPicPr>
          <p:cNvPr id="34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68028" y="2894076"/>
            <a:ext cx="173736" cy="173736"/>
          </a:xfrm>
          <a:prstGeom prst="rect">
            <a:avLst/>
          </a:prstGeom>
        </p:spPr>
      </p:pic>
      <p:sp>
        <p:nvSpPr>
          <p:cNvPr id="35" name="Text 26"/>
          <p:cNvSpPr/>
          <p:nvPr/>
        </p:nvSpPr>
        <p:spPr>
          <a:xfrm>
            <a:off x="9710928" y="2542032"/>
            <a:ext cx="18379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
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/ broker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9290304" y="3694176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</p:spPr>
      </p:sp>
      <p:pic>
        <p:nvPicPr>
          <p:cNvPr id="3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368028" y="3771900"/>
            <a:ext cx="173736" cy="173736"/>
          </a:xfrm>
          <a:prstGeom prst="rect">
            <a:avLst/>
          </a:prstGeom>
        </p:spPr>
      </p:pic>
      <p:sp>
        <p:nvSpPr>
          <p:cNvPr id="38" name="Text 28"/>
          <p:cNvSpPr/>
          <p:nvPr/>
        </p:nvSpPr>
        <p:spPr>
          <a:xfrm>
            <a:off x="9710928" y="3419856"/>
            <a:ext cx="18379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trail
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audit.jsonl · GxP</a:t>
            </a:r>
            <a:endParaRPr lang="en-US" sz="1000" dirty="0"/>
          </a:p>
        </p:txBody>
      </p:sp>
      <p:sp>
        <p:nvSpPr>
          <p:cNvPr id="39" name="Shape 29"/>
          <p:cNvSpPr/>
          <p:nvPr/>
        </p:nvSpPr>
        <p:spPr>
          <a:xfrm>
            <a:off x="9290304" y="4572000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</p:spPr>
      </p:sp>
      <p:pic>
        <p:nvPicPr>
          <p:cNvPr id="40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9368028" y="4649724"/>
            <a:ext cx="173736" cy="173736"/>
          </a:xfrm>
          <a:prstGeom prst="rect">
            <a:avLst/>
          </a:prstGeom>
        </p:spPr>
      </p:pic>
      <p:sp>
        <p:nvSpPr>
          <p:cNvPr id="41" name="Text 30"/>
          <p:cNvSpPr/>
          <p:nvPr/>
        </p:nvSpPr>
        <p:spPr>
          <a:xfrm>
            <a:off x="9710928" y="4297680"/>
            <a:ext cx="18379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
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on-prem LLM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9290304" y="5449824"/>
            <a:ext cx="329184" cy="329184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BD8EE"/>
            </a:solidFill>
            <a:prstDash val="solid"/>
          </a:ln>
        </p:spPr>
      </p:sp>
      <p:pic>
        <p:nvPicPr>
          <p:cNvPr id="43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368028" y="5527548"/>
            <a:ext cx="173736" cy="173736"/>
          </a:xfrm>
          <a:prstGeom prst="rect">
            <a:avLst/>
          </a:prstGeom>
        </p:spPr>
      </p:pic>
      <p:sp>
        <p:nvSpPr>
          <p:cNvPr id="44" name="Text 32"/>
          <p:cNvSpPr/>
          <p:nvPr/>
        </p:nvSpPr>
        <p:spPr>
          <a:xfrm>
            <a:off x="9710928" y="5175504"/>
            <a:ext cx="18379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98000"/>
              </a:lnSpc>
              <a:buNone/>
            </a:pPr>
            <a:r>
              <a:rPr lang="en-US" sz="1000" b="1" dirty="0">
                <a:solidFill>
                  <a:srgbClr val="1624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CFR Part 11
</a:t>
            </a:r>
            <a:pPr algn="l" indent="0" marL="0">
              <a:lnSpc>
                <a:spcPct val="98000"/>
              </a:lnSpc>
              <a:buNone/>
            </a:pPr>
            <a:r>
              <a:rPr lang="en-US" sz="80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external APIs</a:t>
            </a:r>
            <a:endParaRPr lang="en-US" sz="1000" dirty="0"/>
          </a:p>
        </p:txBody>
      </p:sp>
      <p:sp>
        <p:nvSpPr>
          <p:cNvPr id="45" name="Shape 33"/>
          <p:cNvSpPr/>
          <p:nvPr/>
        </p:nvSpPr>
        <p:spPr>
          <a:xfrm>
            <a:off x="3200400" y="960120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46" name="Shape 34"/>
          <p:cNvSpPr/>
          <p:nvPr/>
        </p:nvSpPr>
        <p:spPr>
          <a:xfrm>
            <a:off x="3319272" y="1078992"/>
            <a:ext cx="329184" cy="329184"/>
          </a:xfrm>
          <a:prstGeom prst="ellipse">
            <a:avLst/>
          </a:prstGeom>
          <a:solidFill>
            <a:srgbClr val="16244A"/>
          </a:solidFill>
          <a:ln/>
        </p:spPr>
      </p:sp>
      <p:sp>
        <p:nvSpPr>
          <p:cNvPr id="47" name="Text 35"/>
          <p:cNvSpPr/>
          <p:nvPr/>
        </p:nvSpPr>
        <p:spPr>
          <a:xfrm>
            <a:off x="3319272" y="107899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1200" dirty="0"/>
          </a:p>
        </p:txBody>
      </p:sp>
      <p:sp>
        <p:nvSpPr>
          <p:cNvPr id="48" name="Text 36"/>
          <p:cNvSpPr/>
          <p:nvPr/>
        </p:nvSpPr>
        <p:spPr>
          <a:xfrm>
            <a:off x="3767328" y="103327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Ingestion</a:t>
            </a:r>
            <a:endParaRPr lang="en-US" sz="1150" dirty="0"/>
          </a:p>
        </p:txBody>
      </p:sp>
      <p:sp>
        <p:nvSpPr>
          <p:cNvPr id="49" name="Text 37"/>
          <p:cNvSpPr/>
          <p:nvPr/>
        </p:nvSpPr>
        <p:spPr>
          <a:xfrm>
            <a:off x="3767328" y="1261872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Recursive folder upload · docx / pdf / eCTD loaders</a:t>
            </a:r>
            <a:endParaRPr lang="en-US" sz="850" dirty="0"/>
          </a:p>
        </p:txBody>
      </p:sp>
      <p:sp>
        <p:nvSpPr>
          <p:cNvPr id="50" name="Text 38"/>
          <p:cNvSpPr/>
          <p:nvPr/>
        </p:nvSpPr>
        <p:spPr>
          <a:xfrm>
            <a:off x="5852160" y="150876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5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51" name="Shape 39"/>
          <p:cNvSpPr/>
          <p:nvPr/>
        </p:nvSpPr>
        <p:spPr>
          <a:xfrm>
            <a:off x="3200400" y="1719072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52" name="Shape 40"/>
          <p:cNvSpPr/>
          <p:nvPr/>
        </p:nvSpPr>
        <p:spPr>
          <a:xfrm>
            <a:off x="3319272" y="1837944"/>
            <a:ext cx="329184" cy="329184"/>
          </a:xfrm>
          <a:prstGeom prst="ellipse">
            <a:avLst/>
          </a:prstGeom>
          <a:solidFill>
            <a:srgbClr val="16244A"/>
          </a:solidFill>
          <a:ln/>
        </p:spPr>
      </p:sp>
      <p:sp>
        <p:nvSpPr>
          <p:cNvPr id="53" name="Text 41"/>
          <p:cNvSpPr/>
          <p:nvPr/>
        </p:nvSpPr>
        <p:spPr>
          <a:xfrm>
            <a:off x="3319272" y="183794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1200" dirty="0"/>
          </a:p>
        </p:txBody>
      </p:sp>
      <p:sp>
        <p:nvSpPr>
          <p:cNvPr id="54" name="Text 42"/>
          <p:cNvSpPr/>
          <p:nvPr/>
        </p:nvSpPr>
        <p:spPr>
          <a:xfrm>
            <a:off x="3767328" y="179222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Parsing</a:t>
            </a:r>
            <a:endParaRPr lang="en-US" sz="1150" dirty="0"/>
          </a:p>
        </p:txBody>
      </p:sp>
      <p:sp>
        <p:nvSpPr>
          <p:cNvPr id="55" name="Text 43"/>
          <p:cNvSpPr/>
          <p:nvPr/>
        </p:nvSpPr>
        <p:spPr>
          <a:xfrm>
            <a:off x="3767328" y="202082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· PyMuPDF · lxml — run-level styling + blue-text scan</a:t>
            </a:r>
            <a:endParaRPr lang="en-US" sz="850" dirty="0"/>
          </a:p>
        </p:txBody>
      </p:sp>
      <p:sp>
        <p:nvSpPr>
          <p:cNvPr id="56" name="Text 44"/>
          <p:cNvSpPr/>
          <p:nvPr/>
        </p:nvSpPr>
        <p:spPr>
          <a:xfrm>
            <a:off x="5852160" y="2267712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5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57" name="Shape 45"/>
          <p:cNvSpPr/>
          <p:nvPr/>
        </p:nvSpPr>
        <p:spPr>
          <a:xfrm>
            <a:off x="3200400" y="2478024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58" name="Shape 46"/>
          <p:cNvSpPr/>
          <p:nvPr/>
        </p:nvSpPr>
        <p:spPr>
          <a:xfrm>
            <a:off x="3319272" y="2596896"/>
            <a:ext cx="329184" cy="329184"/>
          </a:xfrm>
          <a:prstGeom prst="ellipse">
            <a:avLst/>
          </a:prstGeom>
          <a:solidFill>
            <a:srgbClr val="16244A"/>
          </a:solidFill>
          <a:ln/>
        </p:spPr>
      </p:sp>
      <p:sp>
        <p:nvSpPr>
          <p:cNvPr id="59" name="Text 47"/>
          <p:cNvSpPr/>
          <p:nvPr/>
        </p:nvSpPr>
        <p:spPr>
          <a:xfrm>
            <a:off x="3319272" y="2596896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1200" dirty="0"/>
          </a:p>
        </p:txBody>
      </p:sp>
      <p:sp>
        <p:nvSpPr>
          <p:cNvPr id="60" name="Text 48"/>
          <p:cNvSpPr/>
          <p:nvPr/>
        </p:nvSpPr>
        <p:spPr>
          <a:xfrm>
            <a:off x="3767328" y="2551176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Detection Cascade</a:t>
            </a:r>
            <a:endParaRPr lang="en-US" sz="1150" dirty="0"/>
          </a:p>
        </p:txBody>
      </p:sp>
      <p:sp>
        <p:nvSpPr>
          <p:cNvPr id="61" name="Text 49"/>
          <p:cNvSpPr/>
          <p:nvPr/>
        </p:nvSpPr>
        <p:spPr>
          <a:xfrm>
            <a:off x="3767328" y="2779776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patterns → spaCy NER → Ollama LLM (confidence-gated)</a:t>
            </a:r>
            <a:endParaRPr lang="en-US" sz="850" dirty="0"/>
          </a:p>
        </p:txBody>
      </p:sp>
      <p:sp>
        <p:nvSpPr>
          <p:cNvPr id="62" name="Text 50"/>
          <p:cNvSpPr/>
          <p:nvPr/>
        </p:nvSpPr>
        <p:spPr>
          <a:xfrm>
            <a:off x="5852160" y="3026664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5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63" name="Shape 51"/>
          <p:cNvSpPr/>
          <p:nvPr/>
        </p:nvSpPr>
        <p:spPr>
          <a:xfrm>
            <a:off x="3200400" y="3236976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64" name="Shape 52"/>
          <p:cNvSpPr/>
          <p:nvPr/>
        </p:nvSpPr>
        <p:spPr>
          <a:xfrm>
            <a:off x="3319272" y="3355848"/>
            <a:ext cx="329184" cy="329184"/>
          </a:xfrm>
          <a:prstGeom prst="ellipse">
            <a:avLst/>
          </a:prstGeom>
          <a:solidFill>
            <a:srgbClr val="16244A"/>
          </a:solidFill>
          <a:ln/>
        </p:spPr>
      </p:sp>
      <p:sp>
        <p:nvSpPr>
          <p:cNvPr id="65" name="Text 53"/>
          <p:cNvSpPr/>
          <p:nvPr/>
        </p:nvSpPr>
        <p:spPr>
          <a:xfrm>
            <a:off x="3319272" y="33558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</a:t>
            </a:r>
            <a:endParaRPr lang="en-US" sz="1200" dirty="0"/>
          </a:p>
        </p:txBody>
      </p:sp>
      <p:sp>
        <p:nvSpPr>
          <p:cNvPr id="66" name="Text 54"/>
          <p:cNvSpPr/>
          <p:nvPr/>
        </p:nvSpPr>
        <p:spPr>
          <a:xfrm>
            <a:off x="3767328" y="3310128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Resolution</a:t>
            </a:r>
            <a:endParaRPr lang="en-US" sz="1150" dirty="0"/>
          </a:p>
        </p:txBody>
      </p:sp>
      <p:sp>
        <p:nvSpPr>
          <p:cNvPr id="67" name="Text 55"/>
          <p:cNvSpPr/>
          <p:nvPr/>
        </p:nvSpPr>
        <p:spPr>
          <a:xfrm>
            <a:off x="3767328" y="3538728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/ leaf resolver · Neo4j eCTD backbone</a:t>
            </a:r>
            <a:endParaRPr lang="en-US" sz="850" dirty="0"/>
          </a:p>
        </p:txBody>
      </p:sp>
      <p:sp>
        <p:nvSpPr>
          <p:cNvPr id="68" name="Text 56"/>
          <p:cNvSpPr/>
          <p:nvPr/>
        </p:nvSpPr>
        <p:spPr>
          <a:xfrm>
            <a:off x="5852160" y="3785616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5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69" name="Shape 57"/>
          <p:cNvSpPr/>
          <p:nvPr/>
        </p:nvSpPr>
        <p:spPr>
          <a:xfrm>
            <a:off x="3200400" y="3995928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70" name="Shape 58"/>
          <p:cNvSpPr/>
          <p:nvPr/>
        </p:nvSpPr>
        <p:spPr>
          <a:xfrm>
            <a:off x="3319272" y="4114800"/>
            <a:ext cx="329184" cy="329184"/>
          </a:xfrm>
          <a:prstGeom prst="ellipse">
            <a:avLst/>
          </a:prstGeom>
          <a:solidFill>
            <a:srgbClr val="16244A"/>
          </a:solidFill>
          <a:ln/>
        </p:spPr>
      </p:sp>
      <p:sp>
        <p:nvSpPr>
          <p:cNvPr id="71" name="Text 59"/>
          <p:cNvSpPr/>
          <p:nvPr/>
        </p:nvSpPr>
        <p:spPr>
          <a:xfrm>
            <a:off x="3319272" y="4114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</a:t>
            </a:r>
            <a:endParaRPr lang="en-US" sz="1200" dirty="0"/>
          </a:p>
        </p:txBody>
      </p:sp>
      <p:sp>
        <p:nvSpPr>
          <p:cNvPr id="72" name="Text 60"/>
          <p:cNvSpPr/>
          <p:nvPr/>
        </p:nvSpPr>
        <p:spPr>
          <a:xfrm>
            <a:off x="3767328" y="4069080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Hyperlink Injection</a:t>
            </a:r>
            <a:endParaRPr lang="en-US" sz="1150" dirty="0"/>
          </a:p>
        </p:txBody>
      </p:sp>
      <p:sp>
        <p:nvSpPr>
          <p:cNvPr id="73" name="Text 61"/>
          <p:cNvSpPr/>
          <p:nvPr/>
        </p:nvSpPr>
        <p:spPr>
          <a:xfrm>
            <a:off x="3767328" y="4297680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· PDF · eCTD xref — style-preserving _linked copies</a:t>
            </a:r>
            <a:endParaRPr lang="en-US" sz="850" dirty="0"/>
          </a:p>
        </p:txBody>
      </p:sp>
      <p:sp>
        <p:nvSpPr>
          <p:cNvPr id="74" name="Text 62"/>
          <p:cNvSpPr/>
          <p:nvPr/>
        </p:nvSpPr>
        <p:spPr>
          <a:xfrm>
            <a:off x="5852160" y="4544568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5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75" name="Shape 63"/>
          <p:cNvSpPr/>
          <p:nvPr/>
        </p:nvSpPr>
        <p:spPr>
          <a:xfrm>
            <a:off x="3200400" y="4754880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76" name="Shape 64"/>
          <p:cNvSpPr/>
          <p:nvPr/>
        </p:nvSpPr>
        <p:spPr>
          <a:xfrm>
            <a:off x="3319272" y="4873752"/>
            <a:ext cx="329184" cy="329184"/>
          </a:xfrm>
          <a:prstGeom prst="ellipse">
            <a:avLst/>
          </a:prstGeom>
          <a:solidFill>
            <a:srgbClr val="16244A"/>
          </a:solidFill>
          <a:ln/>
        </p:spPr>
      </p:sp>
      <p:sp>
        <p:nvSpPr>
          <p:cNvPr id="77" name="Text 65"/>
          <p:cNvSpPr/>
          <p:nvPr/>
        </p:nvSpPr>
        <p:spPr>
          <a:xfrm>
            <a:off x="3319272" y="4873752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6</a:t>
            </a:r>
            <a:endParaRPr lang="en-US" sz="1200" dirty="0"/>
          </a:p>
        </p:txBody>
      </p:sp>
      <p:sp>
        <p:nvSpPr>
          <p:cNvPr id="78" name="Text 66"/>
          <p:cNvSpPr/>
          <p:nvPr/>
        </p:nvSpPr>
        <p:spPr>
          <a:xfrm>
            <a:off x="3767328" y="4828032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&amp; Anomaly</a:t>
            </a:r>
            <a:endParaRPr lang="en-US" sz="1150" dirty="0"/>
          </a:p>
        </p:txBody>
      </p:sp>
      <p:sp>
        <p:nvSpPr>
          <p:cNvPr id="79" name="Text 67"/>
          <p:cNvSpPr/>
          <p:nvPr/>
        </p:nvSpPr>
        <p:spPr>
          <a:xfrm>
            <a:off x="3767328" y="5056632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Existence · target match · viewer compat · anomalies</a:t>
            </a:r>
            <a:endParaRPr lang="en-US" sz="850" dirty="0"/>
          </a:p>
        </p:txBody>
      </p:sp>
      <p:sp>
        <p:nvSpPr>
          <p:cNvPr id="80" name="Text 68"/>
          <p:cNvSpPr/>
          <p:nvPr/>
        </p:nvSpPr>
        <p:spPr>
          <a:xfrm>
            <a:off x="5852160" y="530352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E5B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▼</a:t>
            </a:r>
            <a:endParaRPr lang="en-US" sz="1400" dirty="0"/>
          </a:p>
        </p:txBody>
      </p:sp>
      <p:sp>
        <p:nvSpPr>
          <p:cNvPr id="81" name="Shape 69"/>
          <p:cNvSpPr/>
          <p:nvPr/>
        </p:nvSpPr>
        <p:spPr>
          <a:xfrm>
            <a:off x="3200400" y="5513832"/>
            <a:ext cx="576072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82" name="Shape 70"/>
          <p:cNvSpPr/>
          <p:nvPr/>
        </p:nvSpPr>
        <p:spPr>
          <a:xfrm>
            <a:off x="3319272" y="5632704"/>
            <a:ext cx="329184" cy="329184"/>
          </a:xfrm>
          <a:prstGeom prst="ellipse">
            <a:avLst/>
          </a:prstGeom>
          <a:solidFill>
            <a:srgbClr val="16244A"/>
          </a:solidFill>
          <a:ln/>
        </p:spPr>
      </p:sp>
      <p:sp>
        <p:nvSpPr>
          <p:cNvPr id="83" name="Text 71"/>
          <p:cNvSpPr/>
          <p:nvPr/>
        </p:nvSpPr>
        <p:spPr>
          <a:xfrm>
            <a:off x="3319272" y="5632704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</a:t>
            </a:r>
            <a:endParaRPr lang="en-US" sz="1200" dirty="0"/>
          </a:p>
        </p:txBody>
      </p:sp>
      <p:sp>
        <p:nvSpPr>
          <p:cNvPr id="84" name="Text 72"/>
          <p:cNvSpPr/>
          <p:nvPr/>
        </p:nvSpPr>
        <p:spPr>
          <a:xfrm>
            <a:off x="3767328" y="5586984"/>
            <a:ext cx="5074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Reporting &amp; Outputs</a:t>
            </a:r>
            <a:endParaRPr lang="en-US" sz="1150" dirty="0"/>
          </a:p>
        </p:txBody>
      </p:sp>
      <p:sp>
        <p:nvSpPr>
          <p:cNvPr id="85" name="Text 73"/>
          <p:cNvSpPr/>
          <p:nvPr/>
        </p:nvSpPr>
        <p:spPr>
          <a:xfrm>
            <a:off x="3767328" y="5815584"/>
            <a:ext cx="5074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score · CSV / XLSX · _linked.docx / .pdf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164592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404040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Tech Stack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02920" y="731520"/>
            <a:ext cx="11155680" cy="0"/>
          </a:xfrm>
          <a:prstGeom prst="line">
            <a:avLst/>
          </a:prstGeom>
          <a:noFill/>
          <a:ln w="34925">
            <a:solidFill>
              <a:srgbClr val="11111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6355080"/>
            <a:ext cx="11155680" cy="0"/>
          </a:xfrm>
          <a:prstGeom prst="line">
            <a:avLst/>
          </a:prstGeom>
          <a:noFill/>
          <a:ln w="34925">
            <a:solidFill>
              <a:srgbClr val="11111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0058400" y="6419088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6/5/2026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1155680" y="6391656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6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914400"/>
            <a:ext cx="3569208" cy="1633728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48640" y="914400"/>
            <a:ext cx="82296" cy="1633728"/>
          </a:xfrm>
          <a:prstGeom prst="rect">
            <a:avLst/>
          </a:prstGeom>
          <a:solidFill>
            <a:srgbClr val="2E5BA7"/>
          </a:solidFill>
          <a:ln/>
        </p:spPr>
      </p:sp>
      <p:sp>
        <p:nvSpPr>
          <p:cNvPr id="9" name="Shape 7"/>
          <p:cNvSpPr/>
          <p:nvPr/>
        </p:nvSpPr>
        <p:spPr>
          <a:xfrm>
            <a:off x="786384" y="1115568"/>
            <a:ext cx="420624" cy="420624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7824" y="1207008"/>
            <a:ext cx="237744" cy="23774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1097280"/>
            <a:ext cx="265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Language &amp; Tooling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04672" y="1664208"/>
            <a:ext cx="31120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3.11 · Poetry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· Black · mypy · pytest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319016" y="914400"/>
            <a:ext cx="3569208" cy="1633728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319016" y="914400"/>
            <a:ext cx="82296" cy="1633728"/>
          </a:xfrm>
          <a:prstGeom prst="rect">
            <a:avLst/>
          </a:prstGeom>
          <a:solidFill>
            <a:srgbClr val="2E5BA7"/>
          </a:solidFill>
          <a:ln/>
        </p:spPr>
      </p:sp>
      <p:sp>
        <p:nvSpPr>
          <p:cNvPr id="15" name="Shape 12"/>
          <p:cNvSpPr/>
          <p:nvPr/>
        </p:nvSpPr>
        <p:spPr>
          <a:xfrm>
            <a:off x="4556760" y="1115568"/>
            <a:ext cx="420624" cy="420624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200" y="1207008"/>
            <a:ext cx="237744" cy="23774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5096256" y="1097280"/>
            <a:ext cx="265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Document Parsing</a:t>
            </a:r>
            <a:endParaRPr lang="en-US" sz="1300" dirty="0"/>
          </a:p>
        </p:txBody>
      </p:sp>
      <p:sp>
        <p:nvSpPr>
          <p:cNvPr id="18" name="Text 14"/>
          <p:cNvSpPr/>
          <p:nvPr/>
        </p:nvSpPr>
        <p:spPr>
          <a:xfrm>
            <a:off x="4575048" y="1664208"/>
            <a:ext cx="31120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· PyMuPDF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pdfplumber · lxml</a:t>
            </a:r>
            <a:endParaRPr lang="en-US" sz="1050" dirty="0"/>
          </a:p>
        </p:txBody>
      </p:sp>
      <p:sp>
        <p:nvSpPr>
          <p:cNvPr id="19" name="Shape 15"/>
          <p:cNvSpPr/>
          <p:nvPr/>
        </p:nvSpPr>
        <p:spPr>
          <a:xfrm>
            <a:off x="8089392" y="914400"/>
            <a:ext cx="3569208" cy="1633728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8089392" y="914400"/>
            <a:ext cx="82296" cy="1633728"/>
          </a:xfrm>
          <a:prstGeom prst="rect">
            <a:avLst/>
          </a:prstGeom>
          <a:solidFill>
            <a:srgbClr val="2E5BA7"/>
          </a:solidFill>
          <a:ln/>
        </p:spPr>
      </p:sp>
      <p:sp>
        <p:nvSpPr>
          <p:cNvPr id="21" name="Shape 17"/>
          <p:cNvSpPr/>
          <p:nvPr/>
        </p:nvSpPr>
        <p:spPr>
          <a:xfrm>
            <a:off x="8327136" y="1115568"/>
            <a:ext cx="420624" cy="420624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8576" y="1207008"/>
            <a:ext cx="237744" cy="237744"/>
          </a:xfrm>
          <a:prstGeom prst="rect">
            <a:avLst/>
          </a:prstGeom>
        </p:spPr>
      </p:pic>
      <p:sp>
        <p:nvSpPr>
          <p:cNvPr id="23" name="Text 18"/>
          <p:cNvSpPr/>
          <p:nvPr/>
        </p:nvSpPr>
        <p:spPr>
          <a:xfrm>
            <a:off x="8866632" y="1097280"/>
            <a:ext cx="265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AI Detection &amp; LLM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8345424" y="1664208"/>
            <a:ext cx="31120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Regex · spaCy NER · sentence-transformers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Ollama (llama3) · litellm</a:t>
            </a:r>
            <a:endParaRPr lang="en-US" sz="1050" dirty="0"/>
          </a:p>
        </p:txBody>
      </p:sp>
      <p:sp>
        <p:nvSpPr>
          <p:cNvPr id="25" name="Shape 20"/>
          <p:cNvSpPr/>
          <p:nvPr/>
        </p:nvSpPr>
        <p:spPr>
          <a:xfrm>
            <a:off x="548640" y="2749296"/>
            <a:ext cx="3569208" cy="1633728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26" name="Shape 21"/>
          <p:cNvSpPr/>
          <p:nvPr/>
        </p:nvSpPr>
        <p:spPr>
          <a:xfrm>
            <a:off x="548640" y="2749296"/>
            <a:ext cx="82296" cy="1633728"/>
          </a:xfrm>
          <a:prstGeom prst="rect">
            <a:avLst/>
          </a:prstGeom>
          <a:solidFill>
            <a:srgbClr val="2E5BA7"/>
          </a:solidFill>
          <a:ln/>
        </p:spPr>
      </p:sp>
      <p:sp>
        <p:nvSpPr>
          <p:cNvPr id="27" name="Shape 22"/>
          <p:cNvSpPr/>
          <p:nvPr/>
        </p:nvSpPr>
        <p:spPr>
          <a:xfrm>
            <a:off x="786384" y="2950464"/>
            <a:ext cx="420624" cy="420624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2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77824" y="3041904"/>
            <a:ext cx="237744" cy="237744"/>
          </a:xfrm>
          <a:prstGeom prst="rect">
            <a:avLst/>
          </a:prstGeom>
        </p:spPr>
      </p:pic>
      <p:sp>
        <p:nvSpPr>
          <p:cNvPr id="29" name="Text 23"/>
          <p:cNvSpPr/>
          <p:nvPr/>
        </p:nvSpPr>
        <p:spPr>
          <a:xfrm>
            <a:off x="1325880" y="2932176"/>
            <a:ext cx="265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Validation &amp; Reporting</a:t>
            </a:r>
            <a:endParaRPr lang="en-US" sz="1300" dirty="0"/>
          </a:p>
        </p:txBody>
      </p:sp>
      <p:sp>
        <p:nvSpPr>
          <p:cNvPr id="30" name="Text 24"/>
          <p:cNvSpPr/>
          <p:nvPr/>
        </p:nvSpPr>
        <p:spPr>
          <a:xfrm>
            <a:off x="804672" y="3499104"/>
            <a:ext cx="31120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 existence &amp; target checks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openpyxl (Excel) · CSV report</a:t>
            </a:r>
            <a:endParaRPr lang="en-US" sz="1050" dirty="0"/>
          </a:p>
        </p:txBody>
      </p:sp>
      <p:sp>
        <p:nvSpPr>
          <p:cNvPr id="31" name="Shape 25"/>
          <p:cNvSpPr/>
          <p:nvPr/>
        </p:nvSpPr>
        <p:spPr>
          <a:xfrm>
            <a:off x="4319016" y="2749296"/>
            <a:ext cx="3569208" cy="1633728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32" name="Shape 26"/>
          <p:cNvSpPr/>
          <p:nvPr/>
        </p:nvSpPr>
        <p:spPr>
          <a:xfrm>
            <a:off x="4319016" y="2749296"/>
            <a:ext cx="82296" cy="1633728"/>
          </a:xfrm>
          <a:prstGeom prst="rect">
            <a:avLst/>
          </a:prstGeom>
          <a:solidFill>
            <a:srgbClr val="2E5BA7"/>
          </a:solidFill>
          <a:ln/>
        </p:spPr>
      </p:sp>
      <p:sp>
        <p:nvSpPr>
          <p:cNvPr id="33" name="Shape 27"/>
          <p:cNvSpPr/>
          <p:nvPr/>
        </p:nvSpPr>
        <p:spPr>
          <a:xfrm>
            <a:off x="4556760" y="2950464"/>
            <a:ext cx="420624" cy="420624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3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200" y="3041904"/>
            <a:ext cx="237744" cy="237744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5096256" y="2932176"/>
            <a:ext cx="265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Hyperlink Injection</a:t>
            </a:r>
            <a:endParaRPr lang="en-US" sz="1300" dirty="0"/>
          </a:p>
        </p:txBody>
      </p:sp>
      <p:sp>
        <p:nvSpPr>
          <p:cNvPr id="36" name="Text 29"/>
          <p:cNvSpPr/>
          <p:nvPr/>
        </p:nvSpPr>
        <p:spPr>
          <a:xfrm>
            <a:off x="4575048" y="3499104"/>
            <a:ext cx="31120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python-docx (w:hyperlink)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pikepdf · PyMuPDF</a:t>
            </a:r>
            <a:endParaRPr lang="en-US" sz="1050" dirty="0"/>
          </a:p>
        </p:txBody>
      </p:sp>
      <p:sp>
        <p:nvSpPr>
          <p:cNvPr id="37" name="Shape 30"/>
          <p:cNvSpPr/>
          <p:nvPr/>
        </p:nvSpPr>
        <p:spPr>
          <a:xfrm>
            <a:off x="8089392" y="2749296"/>
            <a:ext cx="3569208" cy="1633728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38" name="Shape 31"/>
          <p:cNvSpPr/>
          <p:nvPr/>
        </p:nvSpPr>
        <p:spPr>
          <a:xfrm>
            <a:off x="8089392" y="2749296"/>
            <a:ext cx="82296" cy="1633728"/>
          </a:xfrm>
          <a:prstGeom prst="rect">
            <a:avLst/>
          </a:prstGeom>
          <a:solidFill>
            <a:srgbClr val="2E5BA7"/>
          </a:solidFill>
          <a:ln/>
        </p:spPr>
      </p:sp>
      <p:sp>
        <p:nvSpPr>
          <p:cNvPr id="39" name="Shape 32"/>
          <p:cNvSpPr/>
          <p:nvPr/>
        </p:nvSpPr>
        <p:spPr>
          <a:xfrm>
            <a:off x="8327136" y="2950464"/>
            <a:ext cx="420624" cy="420624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4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8576" y="3041904"/>
            <a:ext cx="237744" cy="237744"/>
          </a:xfrm>
          <a:prstGeom prst="rect">
            <a:avLst/>
          </a:prstGeom>
        </p:spPr>
      </p:pic>
      <p:sp>
        <p:nvSpPr>
          <p:cNvPr id="41" name="Text 33"/>
          <p:cNvSpPr/>
          <p:nvPr/>
        </p:nvSpPr>
        <p:spPr>
          <a:xfrm>
            <a:off x="8866632" y="2932176"/>
            <a:ext cx="265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Orchestration</a:t>
            </a:r>
            <a:endParaRPr lang="en-US" sz="1300" dirty="0"/>
          </a:p>
        </p:txBody>
      </p:sp>
      <p:sp>
        <p:nvSpPr>
          <p:cNvPr id="42" name="Text 34"/>
          <p:cNvSpPr/>
          <p:nvPr/>
        </p:nvSpPr>
        <p:spPr>
          <a:xfrm>
            <a:off x="8345424" y="3499104"/>
            <a:ext cx="31120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· Celery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broker</a:t>
            </a:r>
            <a:endParaRPr lang="en-US" sz="1050" dirty="0"/>
          </a:p>
        </p:txBody>
      </p:sp>
      <p:sp>
        <p:nvSpPr>
          <p:cNvPr id="43" name="Shape 35"/>
          <p:cNvSpPr/>
          <p:nvPr/>
        </p:nvSpPr>
        <p:spPr>
          <a:xfrm>
            <a:off x="548640" y="4584192"/>
            <a:ext cx="3569208" cy="1633728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44" name="Shape 36"/>
          <p:cNvSpPr/>
          <p:nvPr/>
        </p:nvSpPr>
        <p:spPr>
          <a:xfrm>
            <a:off x="548640" y="4584192"/>
            <a:ext cx="82296" cy="1633728"/>
          </a:xfrm>
          <a:prstGeom prst="rect">
            <a:avLst/>
          </a:prstGeom>
          <a:solidFill>
            <a:srgbClr val="2E5BA7"/>
          </a:solidFill>
          <a:ln/>
        </p:spPr>
      </p:sp>
      <p:sp>
        <p:nvSpPr>
          <p:cNvPr id="45" name="Shape 37"/>
          <p:cNvSpPr/>
          <p:nvPr/>
        </p:nvSpPr>
        <p:spPr>
          <a:xfrm>
            <a:off x="786384" y="4785360"/>
            <a:ext cx="420624" cy="420624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4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77824" y="4876800"/>
            <a:ext cx="237744" cy="237744"/>
          </a:xfrm>
          <a:prstGeom prst="rect">
            <a:avLst/>
          </a:prstGeom>
        </p:spPr>
      </p:pic>
      <p:sp>
        <p:nvSpPr>
          <p:cNvPr id="47" name="Text 38"/>
          <p:cNvSpPr/>
          <p:nvPr/>
        </p:nvSpPr>
        <p:spPr>
          <a:xfrm>
            <a:off x="1325880" y="4767072"/>
            <a:ext cx="265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Data &amp; Graph</a:t>
            </a:r>
            <a:endParaRPr lang="en-US" sz="1300" dirty="0"/>
          </a:p>
        </p:txBody>
      </p:sp>
      <p:sp>
        <p:nvSpPr>
          <p:cNvPr id="48" name="Text 39"/>
          <p:cNvSpPr/>
          <p:nvPr/>
        </p:nvSpPr>
        <p:spPr>
          <a:xfrm>
            <a:off x="804672" y="5334000"/>
            <a:ext cx="31120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5 · NetworkX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cache</a:t>
            </a:r>
            <a:endParaRPr lang="en-US" sz="1050" dirty="0"/>
          </a:p>
        </p:txBody>
      </p:sp>
      <p:sp>
        <p:nvSpPr>
          <p:cNvPr id="49" name="Shape 40"/>
          <p:cNvSpPr/>
          <p:nvPr/>
        </p:nvSpPr>
        <p:spPr>
          <a:xfrm>
            <a:off x="4319016" y="4584192"/>
            <a:ext cx="3569208" cy="1633728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50" name="Shape 41"/>
          <p:cNvSpPr/>
          <p:nvPr/>
        </p:nvSpPr>
        <p:spPr>
          <a:xfrm>
            <a:off x="4319016" y="4584192"/>
            <a:ext cx="82296" cy="1633728"/>
          </a:xfrm>
          <a:prstGeom prst="rect">
            <a:avLst/>
          </a:prstGeom>
          <a:solidFill>
            <a:srgbClr val="2E5BA7"/>
          </a:solidFill>
          <a:ln/>
        </p:spPr>
      </p:sp>
      <p:sp>
        <p:nvSpPr>
          <p:cNvPr id="51" name="Shape 42"/>
          <p:cNvSpPr/>
          <p:nvPr/>
        </p:nvSpPr>
        <p:spPr>
          <a:xfrm>
            <a:off x="4556760" y="4785360"/>
            <a:ext cx="420624" cy="420624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52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648200" y="4876800"/>
            <a:ext cx="237744" cy="237744"/>
          </a:xfrm>
          <a:prstGeom prst="rect">
            <a:avLst/>
          </a:prstGeom>
        </p:spPr>
      </p:pic>
      <p:sp>
        <p:nvSpPr>
          <p:cNvPr id="53" name="Text 43"/>
          <p:cNvSpPr/>
          <p:nvPr/>
        </p:nvSpPr>
        <p:spPr>
          <a:xfrm>
            <a:off x="5096256" y="4767072"/>
            <a:ext cx="265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API &amp; Backend</a:t>
            </a:r>
            <a:endParaRPr lang="en-US" sz="1300" dirty="0"/>
          </a:p>
        </p:txBody>
      </p:sp>
      <p:sp>
        <p:nvSpPr>
          <p:cNvPr id="54" name="Text 44"/>
          <p:cNvSpPr/>
          <p:nvPr/>
        </p:nvSpPr>
        <p:spPr>
          <a:xfrm>
            <a:off x="4575048" y="5334000"/>
            <a:ext cx="31120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Uvicorn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Pydantic · structlog</a:t>
            </a:r>
            <a:endParaRPr lang="en-US" sz="1050" dirty="0"/>
          </a:p>
        </p:txBody>
      </p:sp>
      <p:sp>
        <p:nvSpPr>
          <p:cNvPr id="55" name="Shape 45"/>
          <p:cNvSpPr/>
          <p:nvPr/>
        </p:nvSpPr>
        <p:spPr>
          <a:xfrm>
            <a:off x="8089392" y="4584192"/>
            <a:ext cx="3569208" cy="1633728"/>
          </a:xfrm>
          <a:prstGeom prst="roundRect">
            <a:avLst>
              <a:gd name="adj" fmla="val 3358"/>
            </a:avLst>
          </a:prstGeom>
          <a:solidFill>
            <a:srgbClr val="FFFFFF"/>
          </a:solidFill>
          <a:ln w="15875">
            <a:solidFill>
              <a:srgbClr val="CBD8EE"/>
            </a:solidFill>
            <a:prstDash val="solid"/>
          </a:ln>
          <a:effectLst>
            <a:outerShdw sx="100000" sy="100000" kx="0" ky="0" algn="bl" rotWithShape="0" blurRad="50800" dist="19050" dir="8100000">
              <a:srgbClr val="1B2A52">
                <a:alpha val="16000"/>
              </a:srgbClr>
            </a:outerShdw>
          </a:effectLst>
        </p:spPr>
      </p:sp>
      <p:sp>
        <p:nvSpPr>
          <p:cNvPr id="56" name="Shape 46"/>
          <p:cNvSpPr/>
          <p:nvPr/>
        </p:nvSpPr>
        <p:spPr>
          <a:xfrm>
            <a:off x="8089392" y="4584192"/>
            <a:ext cx="82296" cy="1633728"/>
          </a:xfrm>
          <a:prstGeom prst="rect">
            <a:avLst/>
          </a:prstGeom>
          <a:solidFill>
            <a:srgbClr val="2E5BA7"/>
          </a:solidFill>
          <a:ln/>
        </p:spPr>
      </p:sp>
      <p:sp>
        <p:nvSpPr>
          <p:cNvPr id="57" name="Shape 47"/>
          <p:cNvSpPr/>
          <p:nvPr/>
        </p:nvSpPr>
        <p:spPr>
          <a:xfrm>
            <a:off x="8327136" y="4785360"/>
            <a:ext cx="420624" cy="420624"/>
          </a:xfrm>
          <a:prstGeom prst="ellipse">
            <a:avLst/>
          </a:prstGeom>
          <a:solidFill>
            <a:srgbClr val="E3ECF9"/>
          </a:solidFill>
          <a:ln/>
        </p:spPr>
      </p:sp>
      <p:pic>
        <p:nvPicPr>
          <p:cNvPr id="58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18576" y="4876800"/>
            <a:ext cx="237744" cy="237744"/>
          </a:xfrm>
          <a:prstGeom prst="rect">
            <a:avLst/>
          </a:prstGeom>
        </p:spPr>
      </p:pic>
      <p:sp>
        <p:nvSpPr>
          <p:cNvPr id="59" name="Text 48"/>
          <p:cNvSpPr/>
          <p:nvPr/>
        </p:nvSpPr>
        <p:spPr>
          <a:xfrm>
            <a:off x="8866632" y="4767072"/>
            <a:ext cx="26548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4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 &amp; Infra</a:t>
            </a:r>
            <a:endParaRPr lang="en-US" sz="1300" dirty="0"/>
          </a:p>
        </p:txBody>
      </p:sp>
      <p:sp>
        <p:nvSpPr>
          <p:cNvPr id="60" name="Text 49"/>
          <p:cNvSpPr/>
          <p:nvPr/>
        </p:nvSpPr>
        <p:spPr>
          <a:xfrm>
            <a:off x="8345424" y="5334000"/>
            <a:ext cx="3112008" cy="765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18 · Vite · TypeScript</a:t>
            </a:r>
            <a:endParaRPr lang="en-US" sz="1050" dirty="0"/>
          </a:p>
          <a:p>
            <a:pPr algn="l" indent="0" marL="0">
              <a:lnSpc>
                <a:spcPct val="112000"/>
              </a:lnSpc>
              <a:buNone/>
            </a:pPr>
            <a:r>
              <a:rPr lang="en-US" sz="1050" dirty="0">
                <a:solidFill>
                  <a:srgbClr val="5E6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Streamlit · Docker Compose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Hyperlink Engine — HLD &amp; Tech Stack</dc:title>
  <dc:subject>PptxGenJS Presentation</dc:subject>
  <dc:creator>Zensar</dc:creator>
  <cp:lastModifiedBy>Zensar</cp:lastModifiedBy>
  <cp:revision>1</cp:revision>
  <dcterms:created xsi:type="dcterms:W3CDTF">2026-06-05T06:03:47Z</dcterms:created>
  <dcterms:modified xsi:type="dcterms:W3CDTF">2026-06-05T06:03:47Z</dcterms:modified>
</cp:coreProperties>
</file>